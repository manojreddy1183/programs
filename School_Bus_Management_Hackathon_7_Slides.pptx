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863840" y="0"/>
            <a:ext cx="4327855" cy="6858000"/>
          </a:xfrm>
          <a:prstGeom prst="rect">
            <a:avLst/>
          </a:prstGeom>
          <a:solidFill>
            <a:srgbClr val="141F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8321040" y="914400"/>
            <a:ext cx="2651760" cy="4389120"/>
          </a:xfrm>
          <a:prstGeom prst="line">
            <a:avLst/>
          </a:prstGeom>
          <a:ln w="38100">
            <a:solidFill>
              <a:srgbClr val="2ED5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Oval 3"/>
          <p:cNvSpPr/>
          <p:nvPr/>
        </p:nvSpPr>
        <p:spPr>
          <a:xfrm>
            <a:off x="8229600" y="914400"/>
            <a:ext cx="530352" cy="530352"/>
          </a:xfrm>
          <a:prstGeom prst="ellipse">
            <a:avLst/>
          </a:prstGeom>
          <a:solidFill>
            <a:srgbClr val="4580FF"/>
          </a:solidFill>
          <a:ln>
            <a:solidFill>
              <a:srgbClr val="2ED5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0" y="1042416"/>
            <a:ext cx="530352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500"/>
              </a:spcAft>
              <a:defRPr sz="900" b="1">
                <a:solidFill>
                  <a:srgbClr val="F5F8FF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6" name="Oval 5"/>
          <p:cNvSpPr/>
          <p:nvPr/>
        </p:nvSpPr>
        <p:spPr>
          <a:xfrm>
            <a:off x="9601200" y="2331720"/>
            <a:ext cx="530352" cy="530352"/>
          </a:xfrm>
          <a:prstGeom prst="ellipse">
            <a:avLst/>
          </a:prstGeom>
          <a:solidFill>
            <a:srgbClr val="4580FF"/>
          </a:solidFill>
          <a:ln>
            <a:solidFill>
              <a:srgbClr val="2ED5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0" y="2459736"/>
            <a:ext cx="530352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500"/>
              </a:spcAft>
              <a:defRPr sz="900" b="1">
                <a:solidFill>
                  <a:srgbClr val="F5F8F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8" name="Oval 7"/>
          <p:cNvSpPr/>
          <p:nvPr/>
        </p:nvSpPr>
        <p:spPr>
          <a:xfrm>
            <a:off x="8458200" y="3794760"/>
            <a:ext cx="530352" cy="530352"/>
          </a:xfrm>
          <a:prstGeom prst="ellipse">
            <a:avLst/>
          </a:prstGeom>
          <a:solidFill>
            <a:srgbClr val="4580FF"/>
          </a:solidFill>
          <a:ln>
            <a:solidFill>
              <a:srgbClr val="2ED5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58200" y="3922776"/>
            <a:ext cx="530352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500"/>
              </a:spcAft>
              <a:defRPr sz="900" b="1">
                <a:solidFill>
                  <a:srgbClr val="F5F8FF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0" name="Oval 9"/>
          <p:cNvSpPr/>
          <p:nvPr/>
        </p:nvSpPr>
        <p:spPr>
          <a:xfrm>
            <a:off x="10424160" y="4983480"/>
            <a:ext cx="530352" cy="530352"/>
          </a:xfrm>
          <a:prstGeom prst="ellipse">
            <a:avLst/>
          </a:prstGeom>
          <a:solidFill>
            <a:srgbClr val="4580FF"/>
          </a:solidFill>
          <a:ln>
            <a:solidFill>
              <a:srgbClr val="2ED5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424160" y="5111496"/>
            <a:ext cx="530352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500"/>
              </a:spcAft>
              <a:defRPr sz="900" b="1">
                <a:solidFill>
                  <a:srgbClr val="F5F8FF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566928"/>
            <a:ext cx="27432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100" b="1">
                <a:solidFill>
                  <a:srgbClr val="2ED5DC"/>
                </a:solidFill>
                <a:latin typeface="Aptos"/>
              </a:defRPr>
            </a:pPr>
            <a:r>
              <a:t>HACKATHON PROJECT / 45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1353312"/>
            <a:ext cx="6766560" cy="1417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3400" b="1">
                <a:solidFill>
                  <a:srgbClr val="F5F8FF"/>
                </a:solidFill>
                <a:latin typeface="Aptos"/>
              </a:defRPr>
            </a:pPr>
            <a:r>
              <a:t>SCHOOL BUS</a:t>
            </a:r>
          </a:p>
          <a:p>
            <a:pPr algn="l">
              <a:spcAft>
                <a:spcPts val="500"/>
              </a:spcAft>
              <a:defRPr sz="3400" b="1">
                <a:solidFill>
                  <a:srgbClr val="F5F8FF"/>
                </a:solidFill>
                <a:latin typeface="Aptos"/>
              </a:defRPr>
            </a:pPr>
            <a:r>
              <a:t>MANAGEMENT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3063240"/>
            <a:ext cx="6309360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900" b="0">
                <a:solidFill>
                  <a:srgbClr val="AFBED3"/>
                </a:solidFill>
                <a:latin typeface="Aptos"/>
              </a:defRPr>
            </a:pPr>
            <a:r>
              <a:t>A smarter way to manage buses, routes, stops, drivers and student transport.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9808" y="4160520"/>
            <a:ext cx="5349240" cy="640080"/>
          </a:xfrm>
          <a:prstGeom prst="roundRect">
            <a:avLst/>
          </a:prstGeom>
          <a:solidFill>
            <a:srgbClr val="1C2F49"/>
          </a:solidFill>
          <a:ln w="15240">
            <a:solidFill>
              <a:srgbClr val="2ED5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4315968"/>
            <a:ext cx="498348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500"/>
              </a:spcAft>
              <a:defRPr sz="1200" b="1">
                <a:solidFill>
                  <a:srgbClr val="2ED5DC"/>
                </a:solidFill>
                <a:latin typeface="Aptos"/>
              </a:defRPr>
            </a:pPr>
            <a:r>
              <a:t>REACT  •  NODE.JS  •  EXPRESS  •  MONGODB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8" y="5212080"/>
            <a:ext cx="621792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300" b="0">
                <a:solidFill>
                  <a:srgbClr val="F5F8FF"/>
                </a:solidFill>
                <a:latin typeface="Aptos"/>
              </a:defRPr>
            </a:pPr>
            <a:r>
              <a:t>Team Members: [Add names here]</a:t>
            </a:r>
          </a:p>
          <a:p>
            <a:pPr algn="l">
              <a:spcAft>
                <a:spcPts val="500"/>
              </a:spcAft>
              <a:defRPr sz="1300" b="0">
                <a:solidFill>
                  <a:srgbClr val="F5F8FF"/>
                </a:solidFill>
                <a:latin typeface="Aptos"/>
              </a:defRPr>
            </a:pPr>
            <a:r>
              <a:t>Institution: [Add college / organization]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8" y="6126480"/>
            <a:ext cx="64008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000" b="1">
                <a:solidFill>
                  <a:srgbClr val="FFCA5C"/>
                </a:solidFill>
                <a:latin typeface="Aptos"/>
              </a:defRPr>
            </a:pPr>
            <a:r>
              <a:t>PROBLEM DOMAIN / EDUCATION + TRANSPORTATION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" y="6510528"/>
            <a:ext cx="91440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800" b="0">
                <a:solidFill>
                  <a:srgbClr val="AFBED3"/>
                </a:solidFill>
                <a:latin typeface="Aptos"/>
              </a:defRPr>
            </a:pPr>
            <a:r>
              <a:t>SCHOOL BUS MANAGEMENT  •  MERN STACK HACKATHON PROJECT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0" y="6473952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500"/>
              </a:spcAft>
              <a:defRPr sz="900" b="1">
                <a:solidFill>
                  <a:srgbClr val="2ED5DC"/>
                </a:solidFill>
                <a:latin typeface="Aptos"/>
              </a:defRPr>
            </a:pPr>
            <a:r>
              <a:t>1/7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3716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100" b="1">
                <a:solidFill>
                  <a:srgbClr val="2ED5DC"/>
                </a:solidFill>
                <a:latin typeface="Aptos"/>
              </a:defRPr>
            </a:pPr>
            <a:r>
              <a:t>SBM / 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97280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2900" b="1">
                <a:solidFill>
                  <a:srgbClr val="F5F8FF"/>
                </a:solidFill>
                <a:latin typeface="Aptos"/>
              </a:defRPr>
            </a:pPr>
            <a:r>
              <a:t>The Challenge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98448"/>
            <a:ext cx="1097280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300" b="0">
                <a:solidFill>
                  <a:srgbClr val="AFBED3"/>
                </a:solidFill>
                <a:latin typeface="Aptos"/>
              </a:defRPr>
            </a:pPr>
            <a:r>
              <a:t>School transport operations can become difficult when records are scattered or maintained manually.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965960"/>
            <a:ext cx="3520440" cy="3063240"/>
          </a:xfrm>
          <a:prstGeom prst="roundRect">
            <a:avLst/>
          </a:prstGeom>
          <a:solidFill>
            <a:srgbClr val="141F34"/>
          </a:solidFill>
          <a:ln w="15240">
            <a:solidFill>
              <a:srgbClr val="2639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212848"/>
            <a:ext cx="6400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500" b="1">
                <a:solidFill>
                  <a:srgbClr val="2ED5DC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743200"/>
            <a:ext cx="301752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2000" b="1">
                <a:solidFill>
                  <a:srgbClr val="F5F8FF"/>
                </a:solidFill>
                <a:latin typeface="Aptos"/>
              </a:defRPr>
            </a:pPr>
            <a:r>
              <a:t>Fragmented records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474720"/>
            <a:ext cx="2971800" cy="11887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500" b="0">
                <a:solidFill>
                  <a:srgbClr val="AFBED3"/>
                </a:solidFill>
                <a:latin typeface="Aptos"/>
              </a:defRPr>
            </a:pPr>
            <a:r>
              <a:t>Student, driver, bus and route details live in separate files or registers.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98848" y="1965960"/>
            <a:ext cx="3520440" cy="3063240"/>
          </a:xfrm>
          <a:prstGeom prst="roundRect">
            <a:avLst/>
          </a:prstGeom>
          <a:solidFill>
            <a:srgbClr val="141F34"/>
          </a:solidFill>
          <a:ln w="15240">
            <a:solidFill>
              <a:srgbClr val="2639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27448" y="2212848"/>
            <a:ext cx="6400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500" b="1">
                <a:solidFill>
                  <a:srgbClr val="2ED5DC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27448" y="2743200"/>
            <a:ext cx="301752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2000" b="1">
                <a:solidFill>
                  <a:srgbClr val="F5F8FF"/>
                </a:solidFill>
                <a:latin typeface="Aptos"/>
              </a:defRPr>
            </a:pPr>
            <a:r>
              <a:t>Route confusion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27448" y="3474720"/>
            <a:ext cx="2971800" cy="11887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500" b="0">
                <a:solidFill>
                  <a:srgbClr val="AFBED3"/>
                </a:solidFill>
                <a:latin typeface="Aptos"/>
              </a:defRPr>
            </a:pPr>
            <a:r>
              <a:t>Stops, timings and bus assignments can be hard to update consistently.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57615" y="1965960"/>
            <a:ext cx="3520440" cy="3063240"/>
          </a:xfrm>
          <a:prstGeom prst="roundRect">
            <a:avLst/>
          </a:prstGeom>
          <a:solidFill>
            <a:srgbClr val="141F34"/>
          </a:solidFill>
          <a:ln w="15240">
            <a:solidFill>
              <a:srgbClr val="2639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86215" y="2212848"/>
            <a:ext cx="6400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500" b="1">
                <a:solidFill>
                  <a:srgbClr val="2ED5DC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86215" y="2743200"/>
            <a:ext cx="301752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2000" b="1">
                <a:solidFill>
                  <a:srgbClr val="F5F8FF"/>
                </a:solidFill>
                <a:latin typeface="Aptos"/>
              </a:defRPr>
            </a:pPr>
            <a:r>
              <a:t>Limited visibility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86215" y="3474720"/>
            <a:ext cx="2971800" cy="11887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500" b="0">
                <a:solidFill>
                  <a:srgbClr val="AFBED3"/>
                </a:solidFill>
                <a:latin typeface="Aptos"/>
              </a:defRPr>
            </a:pPr>
            <a:r>
              <a:t>Staff may struggle to quickly find the right bus, driver or student record.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5394960"/>
            <a:ext cx="10881360" cy="594360"/>
          </a:xfrm>
          <a:prstGeom prst="roundRect">
            <a:avLst/>
          </a:prstGeom>
          <a:solidFill>
            <a:srgbClr val="262423"/>
          </a:solidFill>
          <a:ln w="15240">
            <a:solidFill>
              <a:srgbClr val="FFC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5559552"/>
            <a:ext cx="104241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500"/>
              </a:spcAft>
              <a:defRPr sz="1400" b="1">
                <a:solidFill>
                  <a:srgbClr val="FFCA5C"/>
                </a:solidFill>
                <a:latin typeface="Aptos"/>
              </a:defRPr>
            </a:pPr>
            <a:r>
              <a:t>GOAL: Replace disconnected manual tracking with one organized, searchable management system.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" y="6510528"/>
            <a:ext cx="91440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800" b="0">
                <a:solidFill>
                  <a:srgbClr val="AFBED3"/>
                </a:solidFill>
                <a:latin typeface="Aptos"/>
              </a:defRPr>
            </a:pPr>
            <a:r>
              <a:t>SCHOOL BUS MANAGEMENT  •  MERN STACK HACKATHON PROJECT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0" y="6473952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500"/>
              </a:spcAft>
              <a:defRPr sz="900" b="1">
                <a:solidFill>
                  <a:srgbClr val="2ED5DC"/>
                </a:solidFill>
                <a:latin typeface="Aptos"/>
              </a:defRPr>
            </a:pPr>
            <a:r>
              <a:t>2/7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3716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100" b="1">
                <a:solidFill>
                  <a:srgbClr val="2ED5DC"/>
                </a:solidFill>
                <a:latin typeface="Aptos"/>
              </a:defRPr>
            </a:pPr>
            <a:r>
              <a:t>SBM / 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97280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2900" b="1">
                <a:solidFill>
                  <a:srgbClr val="F5F8FF"/>
                </a:solidFill>
                <a:latin typeface="Aptos"/>
              </a:defRPr>
            </a:pPr>
            <a:r>
              <a:t>Our Innovation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98448"/>
            <a:ext cx="1097280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300" b="0">
                <a:solidFill>
                  <a:srgbClr val="AFBED3"/>
                </a:solidFill>
                <a:latin typeface="Aptos"/>
              </a:defRPr>
            </a:pPr>
            <a:r>
              <a:t>A centralized dashboard that connects transport records and makes everyday updates easier.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874519"/>
            <a:ext cx="3493008" cy="1481328"/>
          </a:xfrm>
          <a:prstGeom prst="roundRect">
            <a:avLst/>
          </a:prstGeom>
          <a:solidFill>
            <a:srgbClr val="141F34"/>
          </a:solidFill>
          <a:ln w="15240">
            <a:solidFill>
              <a:srgbClr val="2639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7" y="2057400"/>
            <a:ext cx="31089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200" b="1">
                <a:solidFill>
                  <a:srgbClr val="2ED5DC"/>
                </a:solidFill>
                <a:latin typeface="Aptos"/>
              </a:defRPr>
            </a:pPr>
            <a:r>
              <a:t>CENTRALIZED CRUD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7" y="2496312"/>
            <a:ext cx="310896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300" b="0">
                <a:solidFill>
                  <a:srgbClr val="F5F8FF"/>
                </a:solidFill>
                <a:latin typeface="Aptos"/>
              </a:defRPr>
            </a:pPr>
            <a:r>
              <a:t>Add, view, edit and remove records in one place.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98848" y="1874519"/>
            <a:ext cx="3493008" cy="1481328"/>
          </a:xfrm>
          <a:prstGeom prst="roundRect">
            <a:avLst/>
          </a:prstGeom>
          <a:solidFill>
            <a:srgbClr val="141F34"/>
          </a:solidFill>
          <a:ln w="15240">
            <a:solidFill>
              <a:srgbClr val="2639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81728" y="2057400"/>
            <a:ext cx="31089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200" b="1">
                <a:solidFill>
                  <a:srgbClr val="2ED5DC"/>
                </a:solidFill>
                <a:latin typeface="Aptos"/>
              </a:defRPr>
            </a:pPr>
            <a:r>
              <a:t>ROUTE + STOP MAPPING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81728" y="2496312"/>
            <a:ext cx="310896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300" b="0">
                <a:solidFill>
                  <a:srgbClr val="F5F8FF"/>
                </a:solidFill>
                <a:latin typeface="Aptos"/>
              </a:defRPr>
            </a:pPr>
            <a:r>
              <a:t>Organize stops and assign routes to buses.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39328" y="1874519"/>
            <a:ext cx="3493008" cy="1481328"/>
          </a:xfrm>
          <a:prstGeom prst="roundRect">
            <a:avLst/>
          </a:prstGeom>
          <a:solidFill>
            <a:srgbClr val="141F34"/>
          </a:solidFill>
          <a:ln w="15240">
            <a:solidFill>
              <a:srgbClr val="2639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22208" y="2057400"/>
            <a:ext cx="31089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200" b="1">
                <a:solidFill>
                  <a:srgbClr val="2ED5DC"/>
                </a:solidFill>
                <a:latin typeface="Aptos"/>
              </a:defRPr>
            </a:pPr>
            <a:r>
              <a:t>STUDENT ASSIGNMENT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22208" y="2496312"/>
            <a:ext cx="310896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300" b="0">
                <a:solidFill>
                  <a:srgbClr val="F5F8FF"/>
                </a:solidFill>
                <a:latin typeface="Aptos"/>
              </a:defRPr>
            </a:pPr>
            <a:r>
              <a:t>Link each student to a relevant route or bus.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3703320"/>
            <a:ext cx="3493008" cy="1481328"/>
          </a:xfrm>
          <a:prstGeom prst="roundRect">
            <a:avLst/>
          </a:prstGeom>
          <a:solidFill>
            <a:srgbClr val="141F34"/>
          </a:solidFill>
          <a:ln w="15240">
            <a:solidFill>
              <a:srgbClr val="2639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7" y="3886200"/>
            <a:ext cx="31089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200" b="1">
                <a:solidFill>
                  <a:srgbClr val="2ED5DC"/>
                </a:solidFill>
                <a:latin typeface="Aptos"/>
              </a:defRPr>
            </a:pPr>
            <a:r>
              <a:t>DRIVER + BUS RECORDS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7" y="4325112"/>
            <a:ext cx="310896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300" b="0">
                <a:solidFill>
                  <a:srgbClr val="F5F8FF"/>
                </a:solidFill>
                <a:latin typeface="Aptos"/>
              </a:defRPr>
            </a:pPr>
            <a:r>
              <a:t>Track driver details, vehicle information and assignments.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98848" y="3703320"/>
            <a:ext cx="3493008" cy="1481328"/>
          </a:xfrm>
          <a:prstGeom prst="roundRect">
            <a:avLst/>
          </a:prstGeom>
          <a:solidFill>
            <a:srgbClr val="141F34"/>
          </a:solidFill>
          <a:ln w="15240">
            <a:solidFill>
              <a:srgbClr val="2639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81728" y="3886200"/>
            <a:ext cx="31089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200" b="1">
                <a:solidFill>
                  <a:srgbClr val="2ED5DC"/>
                </a:solidFill>
                <a:latin typeface="Aptos"/>
              </a:defRPr>
            </a:pPr>
            <a:r>
              <a:t>SCHEDULE MANAGEMENT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81728" y="4325112"/>
            <a:ext cx="310896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300" b="0">
                <a:solidFill>
                  <a:srgbClr val="F5F8FF"/>
                </a:solidFill>
                <a:latin typeface="Aptos"/>
              </a:defRPr>
            </a:pPr>
            <a:r>
              <a:t>Maintain pickup/drop timings and stop order.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339328" y="3703320"/>
            <a:ext cx="3493008" cy="1481328"/>
          </a:xfrm>
          <a:prstGeom prst="roundRect">
            <a:avLst/>
          </a:prstGeom>
          <a:solidFill>
            <a:srgbClr val="141F34"/>
          </a:solidFill>
          <a:ln w="15240">
            <a:solidFill>
              <a:srgbClr val="2639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22208" y="3886200"/>
            <a:ext cx="31089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200" b="1">
                <a:solidFill>
                  <a:srgbClr val="2ED5DC"/>
                </a:solidFill>
                <a:latin typeface="Aptos"/>
              </a:defRPr>
            </a:pPr>
            <a:r>
              <a:t>ROLE-BASED ACCESS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22208" y="4325112"/>
            <a:ext cx="310896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300" b="0">
                <a:solidFill>
                  <a:srgbClr val="F5F8FF"/>
                </a:solidFill>
                <a:latin typeface="Aptos"/>
              </a:defRPr>
            </a:pPr>
            <a:r>
              <a:t>Separate admin and staff permissions where required.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5806440"/>
            <a:ext cx="107899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500"/>
              </a:spcAft>
              <a:defRPr sz="1200" b="1">
                <a:solidFill>
                  <a:srgbClr val="53DCA0"/>
                </a:solidFill>
                <a:latin typeface="Aptos"/>
              </a:defRPr>
            </a:pPr>
            <a:r>
              <a:t>CORE IDEA / ONE SOURCE OF TRUTH FOR SCHOOL TRANSPORT DATA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" y="6510528"/>
            <a:ext cx="91440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800" b="0">
                <a:solidFill>
                  <a:srgbClr val="AFBED3"/>
                </a:solidFill>
                <a:latin typeface="Aptos"/>
              </a:defRPr>
            </a:pPr>
            <a:r>
              <a:t>SCHOOL BUS MANAGEMENT  •  MERN STACK HACKATHON PROJECT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55680" y="6473952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500"/>
              </a:spcAft>
              <a:defRPr sz="900" b="1">
                <a:solidFill>
                  <a:srgbClr val="2ED5DC"/>
                </a:solidFill>
                <a:latin typeface="Aptos"/>
              </a:defRPr>
            </a:pPr>
            <a:r>
              <a:t>3/7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3716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100" b="1">
                <a:solidFill>
                  <a:srgbClr val="2ED5DC"/>
                </a:solidFill>
                <a:latin typeface="Aptos"/>
              </a:defRPr>
            </a:pPr>
            <a:r>
              <a:t>SBM / 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97280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2900" b="1">
                <a:solidFill>
                  <a:srgbClr val="F5F8FF"/>
                </a:solidFill>
                <a:latin typeface="Aptos"/>
              </a:defRPr>
            </a:pPr>
            <a:r>
              <a:t>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98448"/>
            <a:ext cx="1097280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300" b="0">
                <a:solidFill>
                  <a:srgbClr val="AFBED3"/>
                </a:solidFill>
                <a:latin typeface="Aptos"/>
              </a:defRPr>
            </a:pPr>
            <a:r>
              <a:t>From a staff action to a validated database update and a clear interface response.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2331720"/>
            <a:ext cx="1627632" cy="1572768"/>
          </a:xfrm>
          <a:prstGeom prst="roundRect">
            <a:avLst/>
          </a:prstGeom>
          <a:solidFill>
            <a:srgbClr val="141F34"/>
          </a:solidFill>
          <a:ln w="15240">
            <a:solidFill>
              <a:srgbClr val="2ED5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578608"/>
            <a:ext cx="1444752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500"/>
              </a:spcAft>
              <a:defRPr sz="1200" b="1">
                <a:solidFill>
                  <a:srgbClr val="2ED5DC"/>
                </a:solidFill>
                <a:latin typeface="Aptos"/>
              </a:defRPr>
            </a:pPr>
            <a:r>
              <a:t>INPUT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1208" y="3035808"/>
            <a:ext cx="1408176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500"/>
              </a:spcAft>
              <a:defRPr sz="1100" b="0">
                <a:solidFill>
                  <a:srgbClr val="F5F8FF"/>
                </a:solidFill>
                <a:latin typeface="Aptos"/>
              </a:defRPr>
            </a:pPr>
            <a:r>
              <a:t>Admin / staff enters</a:t>
            </a:r>
          </a:p>
          <a:p>
            <a:pPr algn="ctr">
              <a:spcAft>
                <a:spcPts val="500"/>
              </a:spcAft>
              <a:defRPr sz="1100" b="0">
                <a:solidFill>
                  <a:srgbClr val="F5F8FF"/>
                </a:solidFill>
                <a:latin typeface="Aptos"/>
              </a:defRPr>
            </a:pPr>
            <a:r>
              <a:t>or edits a record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39112" y="2816352"/>
            <a:ext cx="32004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500"/>
              </a:spcAft>
              <a:defRPr sz="2000" b="1">
                <a:solidFill>
                  <a:srgbClr val="53DCA0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368296" y="2331720"/>
            <a:ext cx="1627632" cy="1572768"/>
          </a:xfrm>
          <a:prstGeom prst="roundRect">
            <a:avLst/>
          </a:prstGeom>
          <a:solidFill>
            <a:srgbClr val="141F34"/>
          </a:solidFill>
          <a:ln w="15240">
            <a:solidFill>
              <a:srgbClr val="2F44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459736" y="2578608"/>
            <a:ext cx="1444752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500"/>
              </a:spcAft>
              <a:defRPr sz="1200" b="1">
                <a:solidFill>
                  <a:srgbClr val="2ED5DC"/>
                </a:solidFill>
                <a:latin typeface="Aptos"/>
              </a:defRPr>
            </a:pPr>
            <a:r>
              <a:t>REACT UI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78024" y="3035808"/>
            <a:ext cx="1408176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500"/>
              </a:spcAft>
              <a:defRPr sz="1100" b="0">
                <a:solidFill>
                  <a:srgbClr val="F5F8FF"/>
                </a:solidFill>
                <a:latin typeface="Aptos"/>
              </a:defRPr>
            </a:pPr>
            <a:r>
              <a:t>Form validation</a:t>
            </a:r>
          </a:p>
          <a:p>
            <a:pPr algn="ctr">
              <a:spcAft>
                <a:spcPts val="500"/>
              </a:spcAft>
              <a:defRPr sz="1100" b="0">
                <a:solidFill>
                  <a:srgbClr val="F5F8FF"/>
                </a:solidFill>
                <a:latin typeface="Aptos"/>
              </a:defRPr>
            </a:pPr>
            <a:r>
              <a:t>and user feedback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95928" y="2816352"/>
            <a:ext cx="32004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500"/>
              </a:spcAft>
              <a:defRPr sz="2000" b="1">
                <a:solidFill>
                  <a:srgbClr val="53DCA0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25112" y="2331720"/>
            <a:ext cx="1627632" cy="1572768"/>
          </a:xfrm>
          <a:prstGeom prst="roundRect">
            <a:avLst/>
          </a:prstGeom>
          <a:solidFill>
            <a:srgbClr val="141F34"/>
          </a:solidFill>
          <a:ln w="15240">
            <a:solidFill>
              <a:srgbClr val="2F44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16552" y="2578608"/>
            <a:ext cx="1444752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500"/>
              </a:spcAft>
              <a:defRPr sz="1200" b="1">
                <a:solidFill>
                  <a:srgbClr val="2ED5DC"/>
                </a:solidFill>
                <a:latin typeface="Aptos"/>
              </a:defRPr>
            </a:pPr>
            <a:r>
              <a:t>REST API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34840" y="3035808"/>
            <a:ext cx="1408176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500"/>
              </a:spcAft>
              <a:defRPr sz="1100" b="0">
                <a:solidFill>
                  <a:srgbClr val="F5F8FF"/>
                </a:solidFill>
                <a:latin typeface="Aptos"/>
              </a:defRPr>
            </a:pPr>
            <a:r>
              <a:t>Express route receives</a:t>
            </a:r>
          </a:p>
          <a:p>
            <a:pPr algn="ctr">
              <a:spcAft>
                <a:spcPts val="500"/>
              </a:spcAft>
              <a:defRPr sz="1100" b="0">
                <a:solidFill>
                  <a:srgbClr val="F5F8FF"/>
                </a:solidFill>
                <a:latin typeface="Aptos"/>
              </a:defRPr>
            </a:pPr>
            <a:r>
              <a:t>HTTP request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52744" y="2816352"/>
            <a:ext cx="32004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500"/>
              </a:spcAft>
              <a:defRPr sz="2000" b="1">
                <a:solidFill>
                  <a:srgbClr val="53DCA0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81928" y="2331720"/>
            <a:ext cx="1627632" cy="1572768"/>
          </a:xfrm>
          <a:prstGeom prst="roundRect">
            <a:avLst/>
          </a:prstGeom>
          <a:solidFill>
            <a:srgbClr val="141F34"/>
          </a:solidFill>
          <a:ln w="15240">
            <a:solidFill>
              <a:srgbClr val="2F44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73368" y="2578608"/>
            <a:ext cx="1444752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500"/>
              </a:spcAft>
              <a:defRPr sz="1200" b="1">
                <a:solidFill>
                  <a:srgbClr val="2ED5DC"/>
                </a:solidFill>
                <a:latin typeface="Aptos"/>
              </a:defRPr>
            </a:pPr>
            <a:r>
              <a:t>LOGIC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91656" y="3035808"/>
            <a:ext cx="1408176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500"/>
              </a:spcAft>
              <a:defRPr sz="1100" b="0">
                <a:solidFill>
                  <a:srgbClr val="F5F8FF"/>
                </a:solidFill>
                <a:latin typeface="Aptos"/>
              </a:defRPr>
            </a:pPr>
            <a:r>
              <a:t>Validate fields,</a:t>
            </a:r>
          </a:p>
          <a:p>
            <a:pPr algn="ctr">
              <a:spcAft>
                <a:spcPts val="500"/>
              </a:spcAft>
              <a:defRPr sz="1100" b="0">
                <a:solidFill>
                  <a:srgbClr val="F5F8FF"/>
                </a:solidFill>
                <a:latin typeface="Aptos"/>
              </a:defRPr>
            </a:pPr>
            <a:r>
              <a:t>check permissions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09560" y="2816352"/>
            <a:ext cx="32004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500"/>
              </a:spcAft>
              <a:defRPr sz="2000" b="1">
                <a:solidFill>
                  <a:srgbClr val="53DCA0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38744" y="2331720"/>
            <a:ext cx="1627632" cy="1572768"/>
          </a:xfrm>
          <a:prstGeom prst="roundRect">
            <a:avLst/>
          </a:prstGeom>
          <a:solidFill>
            <a:srgbClr val="141F34"/>
          </a:solidFill>
          <a:ln w="15240">
            <a:solidFill>
              <a:srgbClr val="2F44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30183" y="2578608"/>
            <a:ext cx="1444752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500"/>
              </a:spcAft>
              <a:defRPr sz="1200" b="1">
                <a:solidFill>
                  <a:srgbClr val="2ED5DC"/>
                </a:solidFill>
                <a:latin typeface="Aptos"/>
              </a:defRPr>
            </a:pPr>
            <a:r>
              <a:t>MONGODB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48471" y="3035808"/>
            <a:ext cx="1408176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500"/>
              </a:spcAft>
              <a:defRPr sz="1100" b="0">
                <a:solidFill>
                  <a:srgbClr val="F5F8FF"/>
                </a:solidFill>
                <a:latin typeface="Aptos"/>
              </a:defRPr>
            </a:pPr>
            <a:r>
              <a:t>Create / read /</a:t>
            </a:r>
          </a:p>
          <a:p>
            <a:pPr algn="ctr">
              <a:spcAft>
                <a:spcPts val="500"/>
              </a:spcAft>
              <a:defRPr sz="1100" b="0">
                <a:solidFill>
                  <a:srgbClr val="F5F8FF"/>
                </a:solidFill>
                <a:latin typeface="Aptos"/>
              </a:defRPr>
            </a:pPr>
            <a:r>
              <a:t>update / delete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66376" y="2816352"/>
            <a:ext cx="32004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500"/>
              </a:spcAft>
              <a:defRPr sz="2000" b="1">
                <a:solidFill>
                  <a:srgbClr val="53DCA0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195560" y="2331720"/>
            <a:ext cx="1627632" cy="1572768"/>
          </a:xfrm>
          <a:prstGeom prst="roundRect">
            <a:avLst/>
          </a:prstGeom>
          <a:solidFill>
            <a:srgbClr val="141F34"/>
          </a:solidFill>
          <a:ln w="15240">
            <a:solidFill>
              <a:srgbClr val="2ED5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287000" y="2578608"/>
            <a:ext cx="1444752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500"/>
              </a:spcAft>
              <a:defRPr sz="1200" b="1">
                <a:solidFill>
                  <a:srgbClr val="2ED5DC"/>
                </a:solidFill>
                <a:latin typeface="Aptos"/>
              </a:defRPr>
            </a:pPr>
            <a:r>
              <a:t>OUTPUT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305288" y="3035808"/>
            <a:ext cx="1408176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500"/>
              </a:spcAft>
              <a:defRPr sz="1100" b="0">
                <a:solidFill>
                  <a:srgbClr val="F5F8FF"/>
                </a:solidFill>
                <a:latin typeface="Aptos"/>
              </a:defRPr>
            </a:pPr>
            <a:r>
              <a:t>Updated list, details</a:t>
            </a:r>
          </a:p>
          <a:p>
            <a:pPr algn="ctr">
              <a:spcAft>
                <a:spcPts val="500"/>
              </a:spcAft>
              <a:defRPr sz="1100" b="0">
                <a:solidFill>
                  <a:srgbClr val="F5F8FF"/>
                </a:solidFill>
                <a:latin typeface="Aptos"/>
              </a:defRPr>
            </a:pPr>
            <a:r>
              <a:t>or status message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1520" y="4434840"/>
            <a:ext cx="10698480" cy="914400"/>
          </a:xfrm>
          <a:prstGeom prst="roundRect">
            <a:avLst/>
          </a:prstGeom>
          <a:solidFill>
            <a:srgbClr val="1628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60120" y="4645152"/>
            <a:ext cx="1024128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500"/>
              </a:spcAft>
              <a:defRPr sz="1500" b="0">
                <a:solidFill>
                  <a:srgbClr val="F5F8FF"/>
                </a:solidFill>
                <a:latin typeface="Aptos"/>
              </a:defRPr>
            </a:pPr>
            <a:r>
              <a:t>Example: Add a new bus → validate registration and capacity → save to MongoDB → show the bus in the fleet list.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" y="5715000"/>
            <a:ext cx="105156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500"/>
              </a:spcAft>
              <a:defRPr sz="1100" b="1">
                <a:solidFill>
                  <a:srgbClr val="AFBED3"/>
                </a:solidFill>
                <a:latin typeface="Aptos"/>
              </a:defRPr>
            </a:pPr>
            <a:r>
              <a:t>USER JOURNEY / SIGN IN → SELECT MODULE → MANAGE RECORDS → REVIEW CONFIRMATION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1792" y="6510528"/>
            <a:ext cx="91440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800" b="0">
                <a:solidFill>
                  <a:srgbClr val="AFBED3"/>
                </a:solidFill>
                <a:latin typeface="Aptos"/>
              </a:defRPr>
            </a:pPr>
            <a:r>
              <a:t>SCHOOL BUS MANAGEMENT  •  MERN STACK HACKATHON PROJECT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155680" y="6473952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500"/>
              </a:spcAft>
              <a:defRPr sz="900" b="1">
                <a:solidFill>
                  <a:srgbClr val="2ED5DC"/>
                </a:solidFill>
                <a:latin typeface="Aptos"/>
              </a:defRPr>
            </a:pPr>
            <a:r>
              <a:t>4/7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3716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100" b="1">
                <a:solidFill>
                  <a:srgbClr val="2ED5DC"/>
                </a:solidFill>
                <a:latin typeface="Aptos"/>
              </a:defRPr>
            </a:pPr>
            <a:r>
              <a:t>SBM / 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97280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2900" b="1">
                <a:solidFill>
                  <a:srgbClr val="F5F8FF"/>
                </a:solidFill>
                <a:latin typeface="Aptos"/>
              </a:defRPr>
            </a:pPr>
            <a:r>
              <a:t>Technology &amp; Algorithm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98448"/>
            <a:ext cx="1097280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300" b="0">
                <a:solidFill>
                  <a:srgbClr val="AFBED3"/>
                </a:solidFill>
                <a:latin typeface="Aptos"/>
              </a:defRPr>
            </a:pPr>
            <a:r>
              <a:t>A familiar full-stack architecture designed for maintainability and straightforward CRUD workflows.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28800"/>
            <a:ext cx="5166360" cy="4160520"/>
          </a:xfrm>
          <a:prstGeom prst="roundRect">
            <a:avLst/>
          </a:prstGeom>
          <a:solidFill>
            <a:srgbClr val="141F34"/>
          </a:solidFill>
          <a:ln w="15240">
            <a:solidFill>
              <a:srgbClr val="2639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084831"/>
            <a:ext cx="44805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500" b="1">
                <a:solidFill>
                  <a:srgbClr val="2ED5DC"/>
                </a:solidFill>
                <a:latin typeface="Aptos"/>
              </a:defRPr>
            </a:pPr>
            <a:r>
              <a:t>TECH STACK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670048"/>
            <a:ext cx="20574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300" b="1">
                <a:solidFill>
                  <a:srgbClr val="F5F8FF"/>
                </a:solidFill>
                <a:latin typeface="Aptos"/>
              </a:defRPr>
            </a:pPr>
            <a:r>
              <a:t>React.js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7792" y="2670048"/>
            <a:ext cx="251460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100" b="0">
                <a:solidFill>
                  <a:srgbClr val="AFBED3"/>
                </a:solidFill>
                <a:latin typeface="Aptos"/>
              </a:defRPr>
            </a:pPr>
            <a:r>
              <a:t>Responsive dashboard and forms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383280"/>
            <a:ext cx="20574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300" b="1">
                <a:solidFill>
                  <a:srgbClr val="F5F8FF"/>
                </a:solidFill>
                <a:latin typeface="Aptos"/>
              </a:defRPr>
            </a:pPr>
            <a:r>
              <a:t>Node.js + Express.js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07792" y="3383280"/>
            <a:ext cx="251460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100" b="0">
                <a:solidFill>
                  <a:srgbClr val="AFBED3"/>
                </a:solidFill>
                <a:latin typeface="Aptos"/>
              </a:defRPr>
            </a:pPr>
            <a:r>
              <a:t>REST API and business logic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096512"/>
            <a:ext cx="20574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300" b="1">
                <a:solidFill>
                  <a:srgbClr val="F5F8FF"/>
                </a:solidFill>
                <a:latin typeface="Aptos"/>
              </a:defRPr>
            </a:pPr>
            <a:r>
              <a:t>MongoDB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7792" y="4096512"/>
            <a:ext cx="251460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100" b="0">
                <a:solidFill>
                  <a:srgbClr val="AFBED3"/>
                </a:solidFill>
                <a:latin typeface="Aptos"/>
              </a:defRPr>
            </a:pPr>
            <a:r>
              <a:t>Flexible document-based storage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809744"/>
            <a:ext cx="20574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300" b="1">
                <a:solidFill>
                  <a:srgbClr val="F5F8FF"/>
                </a:solidFill>
                <a:latin typeface="Aptos"/>
              </a:defRPr>
            </a:pPr>
            <a:r>
              <a:t>JWT / bcrypt (optional)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07792" y="4809744"/>
            <a:ext cx="251460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100" b="0">
                <a:solidFill>
                  <a:srgbClr val="AFBED3"/>
                </a:solidFill>
                <a:latin typeface="Aptos"/>
              </a:defRPr>
            </a:pPr>
            <a:r>
              <a:t>Authentication and password protection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0" y="1828800"/>
            <a:ext cx="5394960" cy="4160520"/>
          </a:xfrm>
          <a:prstGeom prst="roundRect">
            <a:avLst/>
          </a:prstGeom>
          <a:solidFill>
            <a:srgbClr val="141F34"/>
          </a:solidFill>
          <a:ln w="15240">
            <a:solidFill>
              <a:srgbClr val="2639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2084831"/>
            <a:ext cx="47548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500" b="1">
                <a:solidFill>
                  <a:srgbClr val="2ED5DC"/>
                </a:solidFill>
                <a:latin typeface="Aptos"/>
              </a:defRPr>
            </a:pPr>
            <a:r>
              <a:t>DATA MODEL + ALGORITHM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578608"/>
            <a:ext cx="4709160" cy="1463040"/>
          </a:xfrm>
          <a:prstGeom prst="rect">
            <a:avLst/>
          </a:prstGeom>
          <a:noFill/>
        </p:spPr>
        <p:txBody>
          <a:bodyPr wrap="square" lIns="45720" rIns="45720" tIns="36576" bIns="18288">
            <a:spAutoFit/>
          </a:bodyPr>
          <a:lstStyle/>
          <a:p>
            <a:pPr>
              <a:spcAft>
                <a:spcPts val="419"/>
              </a:spcAft>
              <a:defRPr sz="1200">
                <a:solidFill>
                  <a:srgbClr val="F5F8FF"/>
                </a:solidFill>
                <a:latin typeface="Aptos"/>
              </a:defRPr>
            </a:pPr>
            <a:r>
              <a:t>•  Collections: Students, Buses, Drivers, Routes, Stops, Users</a:t>
            </a:r>
          </a:p>
          <a:p>
            <a:pPr>
              <a:spcAft>
                <a:spcPts val="419"/>
              </a:spcAft>
              <a:defRPr sz="1200">
                <a:solidFill>
                  <a:srgbClr val="F5F8FF"/>
                </a:solidFill>
                <a:latin typeface="Aptos"/>
              </a:defRPr>
            </a:pPr>
            <a:r>
              <a:t>•  References connect students ↔ routes, buses ↔ drivers and routes ↔ stops</a:t>
            </a:r>
          </a:p>
          <a:p>
            <a:pPr>
              <a:spcAft>
                <a:spcPts val="419"/>
              </a:spcAft>
              <a:defRPr sz="1200">
                <a:solidFill>
                  <a:srgbClr val="F5F8FF"/>
                </a:solidFill>
                <a:latin typeface="Aptos"/>
              </a:defRPr>
            </a:pPr>
            <a:r>
              <a:t>•  CRUD endpoints with input validation and role checks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4224528"/>
            <a:ext cx="45720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200" b="1">
                <a:solidFill>
                  <a:srgbClr val="53DCA0"/>
                </a:solidFill>
                <a:latin typeface="Aptos"/>
              </a:defRPr>
            </a:pPr>
            <a:r>
              <a:t>EXPECTED COMPLEXITY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4572000"/>
            <a:ext cx="4663440" cy="10058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100" b="0">
                <a:solidFill>
                  <a:srgbClr val="AFBED3"/>
                </a:solidFill>
                <a:latin typeface="Aptos"/>
              </a:defRPr>
            </a:pPr>
            <a:r>
              <a:t>Indexed lookup: typically O(log n) with a B-tree index.</a:t>
            </a:r>
          </a:p>
          <a:p>
            <a:pPr algn="l">
              <a:spcAft>
                <a:spcPts val="500"/>
              </a:spcAft>
              <a:defRPr sz="1100" b="0">
                <a:solidFill>
                  <a:srgbClr val="AFBED3"/>
                </a:solidFill>
                <a:latin typeface="Aptos"/>
              </a:defRPr>
            </a:pPr>
            <a:r>
              <a:t>Unindexed scan: O(n). Insert/update: typically O(log n) index maintenance, plus document work.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" y="6510528"/>
            <a:ext cx="91440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800" b="0">
                <a:solidFill>
                  <a:srgbClr val="AFBED3"/>
                </a:solidFill>
                <a:latin typeface="Aptos"/>
              </a:defRPr>
            </a:pPr>
            <a:r>
              <a:t>SCHOOL BUS MANAGEMENT  •  MERN STACK HACKATHON PROJECT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55680" y="6473952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500"/>
              </a:spcAft>
              <a:defRPr sz="900" b="1">
                <a:solidFill>
                  <a:srgbClr val="2ED5DC"/>
                </a:solidFill>
                <a:latin typeface="Aptos"/>
              </a:defRPr>
            </a:pPr>
            <a:r>
              <a:t>5/7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3716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100" b="1">
                <a:solidFill>
                  <a:srgbClr val="2ED5DC"/>
                </a:solidFill>
                <a:latin typeface="Aptos"/>
              </a:defRPr>
            </a:pPr>
            <a:r>
              <a:t>SBM / 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97280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2900" b="1">
                <a:solidFill>
                  <a:srgbClr val="F5F8FF"/>
                </a:solidFill>
                <a:latin typeface="Aptos"/>
              </a:defRPr>
            </a:pPr>
            <a:r>
              <a:t>Demo &amp;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98448"/>
            <a:ext cx="1097280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300" b="0">
                <a:solidFill>
                  <a:srgbClr val="AFBED3"/>
                </a:solidFill>
                <a:latin typeface="Aptos"/>
              </a:defRPr>
            </a:pPr>
            <a:r>
              <a:t>Suggested live-demo sequence and the practical value the system is designed to deliver.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828800"/>
            <a:ext cx="6629400" cy="4160520"/>
          </a:xfrm>
          <a:prstGeom prst="roundRect">
            <a:avLst/>
          </a:prstGeom>
          <a:solidFill>
            <a:srgbClr val="0E1829"/>
          </a:solidFill>
          <a:ln w="15240">
            <a:solidFill>
              <a:srgbClr val="2F44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828800"/>
            <a:ext cx="6629400" cy="502920"/>
          </a:xfrm>
          <a:prstGeom prst="roundRect">
            <a:avLst/>
          </a:prstGeom>
          <a:solidFill>
            <a:srgbClr val="1F2F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975104"/>
            <a:ext cx="34747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000" b="1">
                <a:solidFill>
                  <a:srgbClr val="2ED5DC"/>
                </a:solidFill>
                <a:latin typeface="Aptos"/>
              </a:defRPr>
            </a:pPr>
            <a:r>
              <a:t>SCHOOL TRANSPORT / DASHBOARD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96112" y="2606040"/>
            <a:ext cx="1737360" cy="822960"/>
          </a:xfrm>
          <a:prstGeom prst="roundRect">
            <a:avLst/>
          </a:prstGeom>
          <a:solidFill>
            <a:srgbClr val="141F34"/>
          </a:solidFill>
          <a:ln w="15240">
            <a:solidFill>
              <a:srgbClr val="2F44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724912"/>
            <a:ext cx="150876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500"/>
              </a:spcAft>
              <a:defRPr sz="2000" b="1">
                <a:solidFill>
                  <a:srgbClr val="F5F8FF"/>
                </a:solidFill>
                <a:latin typeface="Aptos"/>
              </a:defRPr>
            </a:pPr>
            <a:r>
              <a:t>24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099816"/>
            <a:ext cx="1508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500"/>
              </a:spcAft>
              <a:defRPr sz="900" b="0">
                <a:solidFill>
                  <a:srgbClr val="AFBED3"/>
                </a:solidFill>
                <a:latin typeface="Aptos"/>
              </a:defRPr>
            </a:pPr>
            <a:r>
              <a:t>Buses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89504" y="2606040"/>
            <a:ext cx="1737360" cy="822960"/>
          </a:xfrm>
          <a:prstGeom prst="roundRect">
            <a:avLst/>
          </a:prstGeom>
          <a:solidFill>
            <a:srgbClr val="141F34"/>
          </a:solidFill>
          <a:ln w="15240">
            <a:solidFill>
              <a:srgbClr val="2F44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99232" y="2724912"/>
            <a:ext cx="150876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500"/>
              </a:spcAft>
              <a:defRPr sz="2000" b="1">
                <a:solidFill>
                  <a:srgbClr val="F5F8FF"/>
                </a:solidFill>
                <a:latin typeface="Aptos"/>
              </a:defRPr>
            </a:pPr>
            <a:r>
              <a:t>18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99232" y="3099816"/>
            <a:ext cx="1508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500"/>
              </a:spcAft>
              <a:defRPr sz="900" b="0">
                <a:solidFill>
                  <a:srgbClr val="AFBED3"/>
                </a:solidFill>
                <a:latin typeface="Aptos"/>
              </a:defRPr>
            </a:pPr>
            <a:r>
              <a:t>Routes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82896" y="2606040"/>
            <a:ext cx="1737360" cy="822960"/>
          </a:xfrm>
          <a:prstGeom prst="roundRect">
            <a:avLst/>
          </a:prstGeom>
          <a:solidFill>
            <a:srgbClr val="141F34"/>
          </a:solidFill>
          <a:ln w="15240">
            <a:solidFill>
              <a:srgbClr val="2F44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992624" y="2724912"/>
            <a:ext cx="150876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500"/>
              </a:spcAft>
              <a:defRPr sz="2000" b="1">
                <a:solidFill>
                  <a:srgbClr val="F5F8FF"/>
                </a:solidFill>
                <a:latin typeface="Aptos"/>
              </a:defRPr>
            </a:pPr>
            <a:r>
              <a:t>420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92624" y="3099816"/>
            <a:ext cx="1508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500"/>
              </a:spcAft>
              <a:defRPr sz="900" b="0">
                <a:solidFill>
                  <a:srgbClr val="AFBED3"/>
                </a:solidFill>
                <a:latin typeface="Aptos"/>
              </a:defRPr>
            </a:pPr>
            <a:r>
              <a:t>Students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703320"/>
            <a:ext cx="539496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000" b="1">
                <a:solidFill>
                  <a:srgbClr val="2ED5DC"/>
                </a:solidFill>
                <a:latin typeface="Aptos"/>
              </a:defRPr>
            </a:pPr>
            <a:r>
              <a:t>RECENT BUS RECORDS (ILLUSTRATIVE UI MOCKUP)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96112" y="4041648"/>
            <a:ext cx="6080760" cy="320040"/>
          </a:xfrm>
          <a:prstGeom prst="rect">
            <a:avLst/>
          </a:prstGeom>
          <a:solidFill>
            <a:srgbClr val="1F2F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24128" y="4096511"/>
            <a:ext cx="141732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900" b="1">
                <a:solidFill>
                  <a:srgbClr val="F5F8FF"/>
                </a:solidFill>
                <a:latin typeface="Aptos"/>
              </a:defRPr>
            </a:pPr>
            <a:r>
              <a:t>BUS ID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34640" y="4096511"/>
            <a:ext cx="210312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900" b="1">
                <a:solidFill>
                  <a:srgbClr val="F5F8FF"/>
                </a:solidFill>
                <a:latin typeface="Aptos"/>
              </a:defRPr>
            </a:pPr>
            <a:r>
              <a:t>ROUTE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49240" y="4096511"/>
            <a:ext cx="132588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900" b="1">
                <a:solidFill>
                  <a:srgbClr val="F5F8FF"/>
                </a:solidFill>
                <a:latin typeface="Aptos"/>
              </a:defRPr>
            </a:pPr>
            <a:r>
              <a:t>STATUS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4128" y="4480559"/>
            <a:ext cx="141732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900" b="0">
                <a:solidFill>
                  <a:srgbClr val="F5F8FF"/>
                </a:solidFill>
                <a:latin typeface="Aptos"/>
              </a:defRPr>
            </a:pPr>
            <a:r>
              <a:t>BUS-001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34640" y="4480559"/>
            <a:ext cx="210312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900" b="0">
                <a:solidFill>
                  <a:srgbClr val="F5F8FF"/>
                </a:solidFill>
                <a:latin typeface="Aptos"/>
              </a:defRPr>
            </a:pPr>
            <a:r>
              <a:t>North Loop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49240" y="4480559"/>
            <a:ext cx="132588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900" b="0">
                <a:solidFill>
                  <a:srgbClr val="53DCA0"/>
                </a:solidFill>
                <a:latin typeface="Aptos"/>
              </a:defRPr>
            </a:pPr>
            <a:r>
              <a:t>Assigned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24128" y="4864607"/>
            <a:ext cx="141732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900" b="0">
                <a:solidFill>
                  <a:srgbClr val="F5F8FF"/>
                </a:solidFill>
                <a:latin typeface="Aptos"/>
              </a:defRPr>
            </a:pPr>
            <a:r>
              <a:t>BUS-002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834640" y="4864607"/>
            <a:ext cx="210312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900" b="0">
                <a:solidFill>
                  <a:srgbClr val="F5F8FF"/>
                </a:solidFill>
                <a:latin typeface="Aptos"/>
              </a:defRPr>
            </a:pPr>
            <a:r>
              <a:t>Lake Road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49240" y="4864607"/>
            <a:ext cx="132588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900" b="0">
                <a:solidFill>
                  <a:srgbClr val="53DCA0"/>
                </a:solidFill>
                <a:latin typeface="Aptos"/>
              </a:defRPr>
            </a:pPr>
            <a:r>
              <a:t>Assigned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4128" y="5248655"/>
            <a:ext cx="141732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900" b="0">
                <a:solidFill>
                  <a:srgbClr val="F5F8FF"/>
                </a:solidFill>
                <a:latin typeface="Aptos"/>
              </a:defRPr>
            </a:pPr>
            <a:r>
              <a:t>BUS-003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834640" y="5248655"/>
            <a:ext cx="210312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900" b="0">
                <a:solidFill>
                  <a:srgbClr val="F5F8FF"/>
                </a:solidFill>
                <a:latin typeface="Aptos"/>
              </a:defRPr>
            </a:pPr>
            <a:r>
              <a:t>East Gate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49240" y="5248655"/>
            <a:ext cx="132588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900" b="0">
                <a:solidFill>
                  <a:srgbClr val="53DCA0"/>
                </a:solidFill>
                <a:latin typeface="Aptos"/>
              </a:defRPr>
            </a:pPr>
            <a:r>
              <a:t>Available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635240" y="1828800"/>
            <a:ext cx="3886200" cy="4160520"/>
          </a:xfrm>
          <a:prstGeom prst="roundRect">
            <a:avLst/>
          </a:prstGeom>
          <a:solidFill>
            <a:srgbClr val="141F34"/>
          </a:solidFill>
          <a:ln w="15240">
            <a:solidFill>
              <a:srgbClr val="2639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936992" y="2121408"/>
            <a:ext cx="32004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400" b="1">
                <a:solidFill>
                  <a:srgbClr val="2ED5DC"/>
                </a:solidFill>
                <a:latin typeface="Aptos"/>
              </a:defRPr>
            </a:pPr>
            <a:r>
              <a:t>DEMO CHECKLIST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936992" y="2606040"/>
            <a:ext cx="3154680" cy="1600200"/>
          </a:xfrm>
          <a:prstGeom prst="rect">
            <a:avLst/>
          </a:prstGeom>
          <a:noFill/>
        </p:spPr>
        <p:txBody>
          <a:bodyPr wrap="square" lIns="45720" rIns="45720" tIns="36576" bIns="18288">
            <a:spAutoFit/>
          </a:bodyPr>
          <a:lstStyle/>
          <a:p>
            <a:pPr>
              <a:spcAft>
                <a:spcPts val="419"/>
              </a:spcAft>
              <a:defRPr sz="1200">
                <a:solidFill>
                  <a:srgbClr val="F5F8FF"/>
                </a:solidFill>
                <a:latin typeface="Aptos"/>
              </a:defRPr>
            </a:pPr>
            <a:r>
              <a:t>•  Create a bus record</a:t>
            </a:r>
          </a:p>
          <a:p>
            <a:pPr>
              <a:spcAft>
                <a:spcPts val="419"/>
              </a:spcAft>
              <a:defRPr sz="1200">
                <a:solidFill>
                  <a:srgbClr val="F5F8FF"/>
                </a:solidFill>
                <a:latin typeface="Aptos"/>
              </a:defRPr>
            </a:pPr>
            <a:r>
              <a:t>•  Assign a driver and route</a:t>
            </a:r>
          </a:p>
          <a:p>
            <a:pPr>
              <a:spcAft>
                <a:spcPts val="419"/>
              </a:spcAft>
              <a:defRPr sz="1200">
                <a:solidFill>
                  <a:srgbClr val="F5F8FF"/>
                </a:solidFill>
                <a:latin typeface="Aptos"/>
              </a:defRPr>
            </a:pPr>
            <a:r>
              <a:t>•  Add stops and timings</a:t>
            </a:r>
          </a:p>
          <a:p>
            <a:pPr>
              <a:spcAft>
                <a:spcPts val="419"/>
              </a:spcAft>
              <a:defRPr sz="1200">
                <a:solidFill>
                  <a:srgbClr val="F5F8FF"/>
                </a:solidFill>
                <a:latin typeface="Aptos"/>
              </a:defRPr>
            </a:pPr>
            <a:r>
              <a:t>•  Edit a student assignment</a:t>
            </a:r>
          </a:p>
          <a:p>
            <a:pPr>
              <a:spcAft>
                <a:spcPts val="419"/>
              </a:spcAft>
              <a:defRPr sz="1200">
                <a:solidFill>
                  <a:srgbClr val="F5F8FF"/>
                </a:solidFill>
                <a:latin typeface="Aptos"/>
              </a:defRPr>
            </a:pPr>
            <a:r>
              <a:t>•  Show validation / access control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36992" y="4526280"/>
            <a:ext cx="310896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200" b="1">
                <a:solidFill>
                  <a:srgbClr val="53DCA0"/>
                </a:solidFill>
                <a:latin typeface="Aptos"/>
              </a:defRPr>
            </a:pPr>
            <a:r>
              <a:t>PRACTICAL BENEFITS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936992" y="4892040"/>
            <a:ext cx="3154680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200" b="0">
                <a:solidFill>
                  <a:srgbClr val="F5F8FF"/>
                </a:solidFill>
                <a:latin typeface="Aptos"/>
              </a:defRPr>
            </a:pPr>
            <a:r>
              <a:t>Less duplicate data entry • faster record lookup • clearer assignments • easier maintenance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960" y="6144768"/>
            <a:ext cx="105156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900" b="0">
                <a:solidFill>
                  <a:srgbClr val="FFCA5C"/>
                </a:solidFill>
                <a:latin typeface="Aptos"/>
              </a:defRPr>
            </a:pPr>
            <a:r>
              <a:t>NOTE: Dashboard numbers and records are illustrative placeholders, not measured results.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1792" y="6510528"/>
            <a:ext cx="91440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800" b="0">
                <a:solidFill>
                  <a:srgbClr val="AFBED3"/>
                </a:solidFill>
                <a:latin typeface="Aptos"/>
              </a:defRPr>
            </a:pPr>
            <a:r>
              <a:t>SCHOOL BUS MANAGEMENT  •  MERN STACK HACKATHON PROJECT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155680" y="6473952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500"/>
              </a:spcAft>
              <a:defRPr sz="900" b="1">
                <a:solidFill>
                  <a:srgbClr val="2ED5DC"/>
                </a:solidFill>
                <a:latin typeface="Aptos"/>
              </a:defRPr>
            </a:pPr>
            <a:r>
              <a:t>6/7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3716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100" b="1">
                <a:solidFill>
                  <a:srgbClr val="2ED5DC"/>
                </a:solidFill>
                <a:latin typeface="Aptos"/>
              </a:defRPr>
            </a:pPr>
            <a:r>
              <a:t>SBM / 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97280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2900" b="1">
                <a:solidFill>
                  <a:srgbClr val="F5F8FF"/>
                </a:solidFill>
                <a:latin typeface="Aptos"/>
              </a:defRPr>
            </a:pPr>
            <a:r>
              <a:t>Future Vision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98448"/>
            <a:ext cx="1097280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300" b="0">
                <a:solidFill>
                  <a:srgbClr val="AFBED3"/>
                </a:solidFill>
                <a:latin typeface="Aptos"/>
              </a:defRPr>
            </a:pPr>
            <a:r>
              <a:t>Build from reliable record management toward a connected, real-time school transport platform.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9808" y="1828800"/>
            <a:ext cx="1188720" cy="566928"/>
          </a:xfrm>
          <a:prstGeom prst="roundRect">
            <a:avLst/>
          </a:prstGeom>
          <a:solidFill>
            <a:srgbClr val="1C2F49"/>
          </a:solidFill>
          <a:ln w="15240">
            <a:solidFill>
              <a:srgbClr val="2ED5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993392"/>
            <a:ext cx="1042415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500"/>
              </a:spcAft>
              <a:defRPr sz="1000" b="1">
                <a:solidFill>
                  <a:srgbClr val="2ED5DC"/>
                </a:solidFill>
                <a:latin typeface="Aptos"/>
              </a:defRPr>
            </a:pPr>
            <a:r>
              <a:t>NOW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40280" y="1847088"/>
            <a:ext cx="274320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500" b="1">
                <a:solidFill>
                  <a:srgbClr val="F5F8FF"/>
                </a:solidFill>
                <a:latin typeface="Aptos"/>
              </a:defRPr>
            </a:pPr>
            <a:r>
              <a:t>MERN CRUD foundation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0" y="1847088"/>
            <a:ext cx="621792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200" b="0">
                <a:solidFill>
                  <a:srgbClr val="AFBED3"/>
                </a:solidFill>
                <a:latin typeface="Aptos"/>
              </a:defRPr>
            </a:pPr>
            <a:r>
              <a:t>Manage students, buses, drivers, routes, stops and schedules.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2761488"/>
            <a:ext cx="1188720" cy="566928"/>
          </a:xfrm>
          <a:prstGeom prst="roundRect">
            <a:avLst/>
          </a:prstGeom>
          <a:solidFill>
            <a:srgbClr val="1C2F49"/>
          </a:solidFill>
          <a:ln w="15240">
            <a:solidFill>
              <a:srgbClr val="2F44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926080"/>
            <a:ext cx="1042415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500"/>
              </a:spcAft>
              <a:defRPr sz="1000" b="1">
                <a:solidFill>
                  <a:srgbClr val="2ED5DC"/>
                </a:solidFill>
                <a:latin typeface="Aptos"/>
              </a:defRPr>
            </a:pPr>
            <a:r>
              <a:t>NEXT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40280" y="2779776"/>
            <a:ext cx="274320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500" b="1">
                <a:solidFill>
                  <a:srgbClr val="F5F8FF"/>
                </a:solidFill>
                <a:latin typeface="Aptos"/>
              </a:defRPr>
            </a:pPr>
            <a:r>
              <a:t>Live bus tracking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2779776"/>
            <a:ext cx="621792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200" b="0">
                <a:solidFill>
                  <a:srgbClr val="AFBED3"/>
                </a:solidFill>
                <a:latin typeface="Aptos"/>
              </a:defRPr>
            </a:pPr>
            <a:r>
              <a:t>GPS integration, map view, ETA and route deviation alerts.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8" y="3694176"/>
            <a:ext cx="1188720" cy="566928"/>
          </a:xfrm>
          <a:prstGeom prst="roundRect">
            <a:avLst/>
          </a:prstGeom>
          <a:solidFill>
            <a:srgbClr val="1C2F49"/>
          </a:solidFill>
          <a:ln w="15240">
            <a:solidFill>
              <a:srgbClr val="2F44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3858768"/>
            <a:ext cx="1042415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500"/>
              </a:spcAft>
              <a:defRPr sz="1000" b="1">
                <a:solidFill>
                  <a:srgbClr val="2ED5DC"/>
                </a:solidFill>
                <a:latin typeface="Aptos"/>
              </a:defRPr>
            </a:pPr>
            <a:r>
              <a:t>LATER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40280" y="3712463"/>
            <a:ext cx="274320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500" b="1">
                <a:solidFill>
                  <a:srgbClr val="F5F8FF"/>
                </a:solidFill>
                <a:latin typeface="Aptos"/>
              </a:defRPr>
            </a:pPr>
            <a:r>
              <a:t>Parent communication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0" y="3712463"/>
            <a:ext cx="621792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200" b="0">
                <a:solidFill>
                  <a:srgbClr val="AFBED3"/>
                </a:solidFill>
                <a:latin typeface="Aptos"/>
              </a:defRPr>
            </a:pPr>
            <a:r>
              <a:t>Pickup/drop notifications, attendance and emergency alerts.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8" y="4626864"/>
            <a:ext cx="1188720" cy="566928"/>
          </a:xfrm>
          <a:prstGeom prst="roundRect">
            <a:avLst/>
          </a:prstGeom>
          <a:solidFill>
            <a:srgbClr val="1C2F49"/>
          </a:solidFill>
          <a:ln w="15240">
            <a:solidFill>
              <a:srgbClr val="2F44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4791456"/>
            <a:ext cx="1042415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500"/>
              </a:spcAft>
              <a:defRPr sz="1000" b="1">
                <a:solidFill>
                  <a:srgbClr val="2ED5DC"/>
                </a:solidFill>
                <a:latin typeface="Aptos"/>
              </a:defRPr>
            </a:pPr>
            <a:r>
              <a:t>SCALE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40280" y="4645152"/>
            <a:ext cx="274320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500" b="1">
                <a:solidFill>
                  <a:srgbClr val="F5F8FF"/>
                </a:solidFill>
                <a:latin typeface="Aptos"/>
              </a:defRPr>
            </a:pPr>
            <a:r>
              <a:t>Multi-school platform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54880" y="4645152"/>
            <a:ext cx="621792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200" b="0">
                <a:solidFill>
                  <a:srgbClr val="AFBED3"/>
                </a:solidFill>
                <a:latin typeface="Aptos"/>
              </a:defRPr>
            </a:pPr>
            <a:r>
              <a:t>Tenant separation, audit logs, analytics and cloud deployment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49808" y="5715000"/>
            <a:ext cx="10744200" cy="502920"/>
          </a:xfrm>
          <a:prstGeom prst="roundRect">
            <a:avLst/>
          </a:prstGeom>
          <a:solidFill>
            <a:srgbClr val="17323A"/>
          </a:solidFill>
          <a:ln w="15240">
            <a:solidFill>
              <a:srgbClr val="53DC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2688" y="5843016"/>
            <a:ext cx="1037844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500"/>
              </a:spcAft>
              <a:defRPr sz="1300" b="1">
                <a:solidFill>
                  <a:srgbClr val="53DCA0"/>
                </a:solidFill>
                <a:latin typeface="Aptos"/>
              </a:defRPr>
            </a:pPr>
            <a:r>
              <a:t>FINAL TAKEAWAY / Organized transport data today; safer, smarter journeys tomorrow.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6291072"/>
            <a:ext cx="1051560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500"/>
              </a:spcAft>
              <a:defRPr sz="1000" b="1">
                <a:solidFill>
                  <a:srgbClr val="F5F8FF"/>
                </a:solidFill>
                <a:latin typeface="Aptos"/>
              </a:defRPr>
            </a:pPr>
            <a:r>
              <a:t>THANK YOU  •  QUESTIONS &amp; ANSWERS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" y="6510528"/>
            <a:ext cx="91440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800" b="0">
                <a:solidFill>
                  <a:srgbClr val="AFBED3"/>
                </a:solidFill>
                <a:latin typeface="Aptos"/>
              </a:defRPr>
            </a:pPr>
            <a:r>
              <a:t>SCHOOL BUS MANAGEMENT  •  MERN STACK HACKATHON PROJECT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55680" y="6473952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500"/>
              </a:spcAft>
              <a:defRPr sz="900" b="1">
                <a:solidFill>
                  <a:srgbClr val="2ED5DC"/>
                </a:solidFill>
                <a:latin typeface="Aptos"/>
              </a:defRPr>
            </a:pPr>
            <a:r>
              <a:t>7/7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